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6576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899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111827"/>
                </a:solidFill>
                <a:latin typeface="Calibri"/>
              </a:rPr>
              <a:t>Lower Bounds for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107899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111827"/>
                </a:solidFill>
                <a:latin typeface="Calibri"/>
              </a:rPr>
              <a:t>Autoconvolution Constant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7899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0" i="0">
                <a:solidFill>
                  <a:srgbClr val="138086"/>
                </a:solidFill>
                <a:latin typeface="Calibri"/>
              </a:rPr>
              <a:t>Three parallel attacks on  C₁ₐ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4389120"/>
            <a:ext cx="3657600" cy="0"/>
          </a:xfrm>
          <a:prstGeom prst="line">
            <a:avLst/>
          </a:prstGeom>
          <a:ln w="190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4526280"/>
            <a:ext cx="107899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Andrei Piterbarg · Jai Bajaj · Derrick Vincent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789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STAT 4830  —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How small can the peak of a normalized self-convolution be?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45920"/>
            <a:ext cx="5760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11827"/>
                </a:solidFill>
                <a:latin typeface="Calibri"/>
              </a:rPr>
              <a:t>Given  </a:t>
            </a:r>
            <a:r>
              <a:rPr sz="1900" b="0" i="1">
                <a:solidFill>
                  <a:srgbClr val="0B3D91"/>
                </a:solidFill>
                <a:latin typeface="Calibri"/>
              </a:rPr>
              <a:t>f : ℝ → ℝ₊</a:t>
            </a:r>
            <a:r>
              <a:rPr sz="1900" b="0" i="0">
                <a:solidFill>
                  <a:srgbClr val="111827"/>
                </a:solidFill>
                <a:latin typeface="Calibri"/>
              </a:rPr>
              <a:t>  with  supp f ⊆ [−¼, ¼]</a:t>
            </a:r>
          </a:p>
          <a:p>
            <a:pPr algn="l"/>
            <a:r>
              <a:rPr sz="1900" b="0" i="0">
                <a:solidFill>
                  <a:srgbClr val="111827"/>
                </a:solidFill>
                <a:latin typeface="Calibri"/>
              </a:rPr>
              <a:t>and  ∫ f = 1,  define</a:t>
            </a:r>
          </a:p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3200" b="1" i="0">
                <a:solidFill>
                  <a:srgbClr val="0B3D91"/>
                </a:solidFill>
                <a:latin typeface="Calibri"/>
              </a:rPr>
              <a:t>C₁ₐ  =  inf_f  ‖ f ∗ f ‖∞</a:t>
            </a:r>
          </a:p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• connected to Sidon / generalized Sidon set densities</a:t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• best-known bounds have not moved since 2017</a:t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• every improvement is a real contribution</a:t>
            </a:r>
          </a:p>
        </p:txBody>
      </p:sp>
      <p:pic>
        <p:nvPicPr>
          <p:cNvPr id="6" name="Picture 5" descr="fig_autoconv_intu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486400" cy="162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solidFill>
            <a:srgbClr val="F5F6F8"/>
          </a:solidFill>
          <a:ln w="952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578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Best published bounds</a:t>
            </a:r>
          </a:p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1.2802</a:t>
            </a:r>
            <a:r>
              <a:rPr sz="2400" b="0" i="0">
                <a:solidFill>
                  <a:srgbClr val="111827"/>
                </a:solidFill>
                <a:latin typeface="Calibri"/>
              </a:rPr>
              <a:t>  ≤  </a:t>
            </a:r>
            <a:r>
              <a:rPr sz="2400" b="1" i="0">
                <a:solidFill>
                  <a:srgbClr val="111827"/>
                </a:solidFill>
                <a:latin typeface="Calibri"/>
              </a:rPr>
              <a:t>C₁ₐ</a:t>
            </a:r>
            <a:r>
              <a:rPr sz="2400" b="0" i="0">
                <a:solidFill>
                  <a:srgbClr val="111827"/>
                </a:solidFill>
                <a:latin typeface="Calibri"/>
              </a:rPr>
              <a:t>  ≤  </a:t>
            </a:r>
            <a:r>
              <a:rPr sz="2400" b="1" i="0">
                <a:solidFill>
                  <a:srgbClr val="C44536"/>
                </a:solidFill>
                <a:latin typeface="Calibri"/>
              </a:rPr>
              <a:t>1.5029</a:t>
            </a:r>
            <a:r>
              <a:rPr sz="1600" b="0" i="1">
                <a:solidFill>
                  <a:srgbClr val="6B7280"/>
                </a:solidFill>
                <a:latin typeface="Calibri"/>
              </a:rPr>
              <a:t>       — unchanged since 2017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Piterbarg · Bajaj · Vincent   |   STAT 4830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Prior work: Cloninger–Steinerberger 2017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Branch-and-prune over a fine height grid  Bₙ,ₘ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54480"/>
            <a:ext cx="66751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3D91"/>
                </a:solidFill>
                <a:latin typeface="Calibri"/>
              </a:rPr>
              <a:t>Step 1 · Discretize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partition  [−¼, ¼]  into  d = 2n  bins;  approximate  </a:t>
            </a:r>
            <a:r>
              <a:rPr sz="1500" b="0" i="1">
                <a:solidFill>
                  <a:srgbClr val="111827"/>
                </a:solidFill>
                <a:latin typeface="Calibri"/>
              </a:rPr>
              <a:t>f</a:t>
            </a:r>
            <a:r>
              <a:rPr sz="1500" b="0" i="0">
                <a:solidFill>
                  <a:srgbClr val="111827"/>
                </a:solidFill>
                <a:latin typeface="Calibri"/>
              </a:rPr>
              <a:t>  by a step function  </a:t>
            </a:r>
            <a:r>
              <a:rPr sz="1500" b="0" i="1">
                <a:solidFill>
                  <a:srgbClr val="111827"/>
                </a:solidFill>
                <a:latin typeface="Calibri"/>
              </a:rPr>
              <a:t>g</a:t>
            </a:r>
            <a:r>
              <a:rPr sz="1500" b="0" i="0">
                <a:solidFill>
                  <a:srgbClr val="111827"/>
                </a:solidFill>
                <a:latin typeface="Calibri"/>
              </a:rPr>
              <a:t>  with heights in  (1/m) ℕ</a:t>
            </a:r>
          </a:p>
          <a:p>
            <a:pPr algn="l"/>
            <a:r>
              <a:rPr sz="6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700" b="1" i="0">
                <a:solidFill>
                  <a:srgbClr val="0B3D91"/>
                </a:solidFill>
                <a:latin typeface="Calibri"/>
              </a:rPr>
              <a:t>Step 2 · Windowed test values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for each window  W,  lower-bound  ‖f ∗ f‖∞  by a quadratic form in the bin heights</a:t>
            </a:r>
          </a:p>
          <a:p>
            <a:pPr algn="l"/>
            <a:r>
              <a:rPr sz="6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700" b="1" i="0">
                <a:solidFill>
                  <a:srgbClr val="0B3D91"/>
                </a:solidFill>
                <a:latin typeface="Calibri"/>
              </a:rPr>
              <a:t>Step 3 · Prune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rule out any height vector whose test value exceeds the target threshold</a:t>
            </a:r>
          </a:p>
          <a:p>
            <a:pPr algn="l"/>
            <a:r>
              <a:rPr sz="6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700" b="1" i="0">
                <a:solidFill>
                  <a:srgbClr val="0B3D91"/>
                </a:solidFill>
                <a:latin typeface="Calibri"/>
              </a:rPr>
              <a:t>Step 4 · Exhaust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if all grid points are pruned, the bound is proved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737360"/>
            <a:ext cx="4023360" cy="4023360"/>
          </a:xfrm>
          <a:prstGeom prst="rect">
            <a:avLst/>
          </a:prstGeom>
          <a:solidFill>
            <a:srgbClr val="F5F6F8"/>
          </a:solidFill>
          <a:ln w="952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36576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Published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40280"/>
            <a:ext cx="36576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0B3D91"/>
                </a:solidFill>
                <a:latin typeface="Calibri"/>
              </a:rPr>
              <a:t>C₁ₐ  ≥  1.2802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291840"/>
            <a:ext cx="36576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at  n = 24  (d = 48),  m =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703320"/>
            <a:ext cx="36576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≈ 20,000 CPU-hours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0" y="4434840"/>
            <a:ext cx="3657600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0" y="4526280"/>
            <a:ext cx="365760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Correction term  2/m + 1/m²  controls the step-function approximation error.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Piterbarg · Bajaj · Vincent   |   STAT 4830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Our three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One problem; three independent attacks; one MATLAB audit along the way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_three_tr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11064240" cy="3467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03520"/>
            <a:ext cx="1106424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We independently implemented a branch-and-prune cascade on GPU  (→ 1.4), built a Lasserre SDP certificate  (→ 1.3, certified),  and, while reproducing the C&amp;S baseline, audited the MATLAB code the authors shared. All three are presented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Piterbarg · Bajaj · Vincent   |   STAT 4830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Track 1 · The cascade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Recursive refinement with novel pruning bounds, fused GPU kernels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54480"/>
            <a:ext cx="6126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Novel pruning bounds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• contiguous-block sums catch interior concentrations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• two-max enhanced bound: cross-term dominance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• edge-pair cross-terms  c₀ · c_{d−1}</a:t>
            </a:r>
          </a:p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each bound proved, then compiled into the pruner</a:t>
            </a:r>
          </a:p>
          <a:p>
            <a:pPr algn="l"/>
            <a:r>
              <a:rPr sz="8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Fused CUDA kernel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• everything on-GPU; no global-memory round trips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• early exit on partial convolution sums  (most compositions die cheap)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• two-stage freeze kernel at deep levels: perturbation bound clears 90%+ of frozen cases,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  avoiding warp divergence → 10×–100× speedup</a:t>
            </a:r>
          </a:p>
        </p:txBody>
      </p:sp>
      <p:pic>
        <p:nvPicPr>
          <p:cNvPr id="6" name="Picture 5" descr="fig_cascade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91640"/>
            <a:ext cx="5029200" cy="21616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Piterbarg · Bajaj · Vincent   |   STAT 4830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Track 1 ·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Cascade pushes the lower bound to 1.4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645920"/>
            <a:ext cx="5486400" cy="4114800"/>
          </a:xfrm>
          <a:prstGeom prst="rect">
            <a:avLst/>
          </a:prstGeom>
          <a:solidFill>
            <a:srgbClr val="F5F6F8"/>
          </a:solidFill>
          <a:ln w="952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5200" b="1" i="0">
                <a:solidFill>
                  <a:srgbClr val="0B3D91"/>
                </a:solidFill>
                <a:latin typeface="Calibri"/>
              </a:rPr>
              <a:t>C₁ₐ  ≥  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5120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at  (d, m) = (128, 20)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5120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≈ 70 hours on a 128-core machine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4617720"/>
            <a:ext cx="5120640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4709160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First significant lower-bound improvement since 2017.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Gap to upper bound narrowed by  ~50%  (0.22 → 0.10).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What the cascade buys you</a:t>
            </a:r>
          </a:p>
          <a:p>
            <a:pPr algn="l"/>
            <a:r>
              <a:rPr sz="6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• sharp in principle — exhaustive enumeration rules out every surviving point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• scales to  d = 128  via symmetry reduction + GPU pruning</a:t>
            </a:r>
          </a:p>
          <a:p>
            <a:pPr algn="l"/>
            <a:r>
              <a:rPr sz="6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What it doesn't</a:t>
            </a:r>
          </a:p>
          <a:p>
            <a:pPr algn="l"/>
            <a:r>
              <a:rPr sz="6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• exponential in  d  in the worst case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• correctness rides on many small inequalities — each needs a proof</a:t>
            </a:r>
          </a:p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• motivated us to build a second, independent certifier 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Piterbarg · Bajaj · Vincent   |   STAT 4830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8086"/>
                </a:solidFill>
                <a:latin typeface="Calibri"/>
              </a:rPr>
              <a:t>Track 2 · Lasserre SDP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Continuous → polynomial → semidefinite  (no enumeration)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138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38086"/>
                </a:solidFill>
                <a:latin typeface="Calibri"/>
              </a:rPr>
              <a:t>Step 1.  Reduce</a:t>
            </a:r>
            <a:r>
              <a:rPr sz="1800" b="0" i="0">
                <a:solidFill>
                  <a:srgbClr val="111827"/>
                </a:solidFill>
                <a:latin typeface="Calibri"/>
              </a:rPr>
              <a:t>   the infinite-dimensional problem on  </a:t>
            </a:r>
            <a:r>
              <a:rPr sz="1800" b="0" i="1">
                <a:solidFill>
                  <a:srgbClr val="111827"/>
                </a:solidFill>
                <a:latin typeface="Calibri"/>
              </a:rPr>
              <a:t>𝓕</a:t>
            </a:r>
            <a:r>
              <a:rPr sz="1800" b="0" i="0">
                <a:solidFill>
                  <a:srgbClr val="111827"/>
                </a:solidFill>
                <a:latin typeface="Calibri"/>
              </a:rPr>
              <a:t>  to a polynomial minimization on the simplex: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0B3D91"/>
                </a:solidFill>
                <a:latin typeface="Calibri"/>
              </a:rPr>
              <a:t>val(d)  =  minᵤ ∈ Δ_d   max_W   μᵀ M_W μ   ≤  C₁ₐ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38086"/>
                </a:solidFill>
                <a:latin typeface="Calibri"/>
              </a:rPr>
              <a:t>Step 2.  Relax</a:t>
            </a:r>
            <a:r>
              <a:rPr sz="1800" b="0" i="0">
                <a:solidFill>
                  <a:srgbClr val="111827"/>
                </a:solidFill>
                <a:latin typeface="Calibri"/>
              </a:rPr>
              <a:t>   via the Lasserre hierarchy with localizing matrices: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0B3D91"/>
                </a:solidFill>
                <a:latin typeface="Calibri"/>
              </a:rPr>
              <a:t>val^(k)(d)  ≤  val^(k+1)(d)  ≤  val(d)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38086"/>
                </a:solidFill>
                <a:latin typeface="Calibri"/>
              </a:rPr>
              <a:t>Step 3.  Certify</a:t>
            </a:r>
            <a:r>
              <a:rPr sz="1800" b="0" i="0">
                <a:solidFill>
                  <a:srgbClr val="111827"/>
                </a:solidFill>
                <a:latin typeface="Calibri"/>
              </a:rPr>
              <a:t>   a dual-feasible point of the order-k SDP whose objective exceeds the threshold.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  <a:latin typeface="Calibri"/>
              </a:rPr>
              <a:t>Scaling lever</a:t>
            </a:r>
            <a:r>
              <a:rPr sz="1600" b="0" i="0">
                <a:solidFill>
                  <a:srgbClr val="111827"/>
                </a:solidFill>
                <a:latin typeface="Calibri"/>
              </a:rPr>
              <a:t>   —   correlative sparsity  (Waki–Kim–Kojima–Muramatsu 2006).</a:t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Chordal extension of the banded window graph yields  O(d)  overlapping cliques;</a:t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the dense  binom(d+k, k)  moment matrix is replaced by  O(d)  small matrices of size  binom(b+1+k, k).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Piterbarg · Bajaj · Vincent   |   STAT 4830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8086"/>
                </a:solidFill>
                <a:latin typeface="Calibri"/>
              </a:rPr>
              <a:t>Track 2 ·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A certified lower bound with full rigor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138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_lasserr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6858000" cy="28272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06640" y="1691640"/>
            <a:ext cx="4297680" cy="2103120"/>
          </a:xfrm>
          <a:prstGeom prst="rect">
            <a:avLst/>
          </a:prstGeom>
          <a:solidFill>
            <a:srgbClr val="F5F6F8"/>
          </a:solidFill>
          <a:ln w="9525">
            <a:solidFill>
              <a:srgbClr val="1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783080"/>
            <a:ext cx="3931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Certified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103120"/>
            <a:ext cx="39319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38086"/>
                </a:solidFill>
                <a:latin typeface="Calibri"/>
              </a:rPr>
              <a:t>C₁ₐ  ≥  1.3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017520"/>
            <a:ext cx="3931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(d, k) = (16,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337560"/>
            <a:ext cx="3931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MOSEK  ·  &lt; 10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4023360"/>
            <a:ext cx="43891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38086"/>
                </a:solidFill>
                <a:latin typeface="Calibri"/>
              </a:rPr>
              <a:t>What we record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• a single dual-feasible point  (y, Z, Λ)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• post-processed via Jansson–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   Chaykin–Keil interval-arithmetic shift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• auxiliary runs at  d ∈ {32, 64, 128}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   under correlative sparsity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Piterbarg · Bajaj · Vincent   |   STAT 4830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C44536"/>
                </a:solidFill>
                <a:latin typeface="Calibri"/>
              </a:rPr>
              <a:t>Track 3 · Auditing the C&amp;S MATLAB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The code the authors shared with us — what it does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54480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When we set out to reproduce the  C₁ₐ ≥ 1.2802  baseline we ran the MATLAB file</a:t>
            </a:r>
          </a:p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Cloninger and Steinerberger shared  (original_baseline_matlab.m).  The published</a:t>
            </a:r>
          </a:p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C&amp;S paper is </a:t>
            </a:r>
            <a:r>
              <a:rPr sz="1700" b="1" i="0">
                <a:solidFill>
                  <a:srgbClr val="111827"/>
                </a:solidFill>
                <a:latin typeface="Calibri"/>
              </a:rPr>
              <a:t>correct</a:t>
            </a:r>
            <a:r>
              <a:rPr sz="1700" b="0" i="0">
                <a:solidFill>
                  <a:srgbClr val="111827"/>
                </a:solidFill>
                <a:latin typeface="Calibri"/>
              </a:rPr>
              <a:t> — it uses the fine height grid  B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n,m</a:t>
            </a:r>
            <a:r>
              <a:rPr sz="1700" b="0" i="0">
                <a:solidFill>
                  <a:srgbClr val="111827"/>
                </a:solidFill>
                <a:latin typeface="Calibri"/>
              </a:rPr>
              <a:t>  with  m = 50.</a:t>
            </a:r>
          </a:p>
          <a:p>
            <a:pPr algn="l"/>
            <a:r>
              <a:rPr sz="6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The MATLAB file, though, parameterizes the search differently: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023360"/>
            <a:ext cx="10515600" cy="1645920"/>
          </a:xfrm>
          <a:prstGeom prst="rect">
            <a:avLst/>
          </a:prstGeom>
          <a:solidFill>
            <a:srgbClr val="F5F6F8"/>
          </a:solidFill>
          <a:ln w="952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160520"/>
            <a:ext cx="10149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In the paper</a:t>
            </a:r>
            <a:r>
              <a:rPr sz="1600" b="0" i="0">
                <a:solidFill>
                  <a:srgbClr val="111827"/>
                </a:solidFill>
                <a:latin typeface="Calibri"/>
              </a:rPr>
              <a:t>:   step-function </a:t>
            </a:r>
            <a:r>
              <a:rPr sz="1600" b="1" i="0">
                <a:solidFill>
                  <a:srgbClr val="111827"/>
                </a:solidFill>
                <a:latin typeface="Calibri"/>
              </a:rPr>
              <a:t>heights</a:t>
            </a:r>
            <a:r>
              <a:rPr sz="1600" b="0" i="0">
                <a:solidFill>
                  <a:srgbClr val="111827"/>
                </a:solidFill>
                <a:latin typeface="Calibri"/>
              </a:rPr>
              <a:t>  quantized in steps of  </a:t>
            </a:r>
            <a:r>
              <a:rPr sz="1600" b="1" i="0">
                <a:solidFill>
                  <a:srgbClr val="111827"/>
                </a:solidFill>
                <a:latin typeface="Calibri"/>
              </a:rPr>
              <a:t>1/m  =  0.02</a:t>
            </a:r>
          </a:p>
          <a:p>
            <a:pPr algn="l"/>
            <a:r>
              <a:rPr sz="4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600" b="1" i="0">
                <a:solidFill>
                  <a:srgbClr val="C44536"/>
                </a:solidFill>
                <a:latin typeface="Calibri"/>
              </a:rPr>
              <a:t>In the code</a:t>
            </a:r>
            <a:r>
              <a:rPr sz="1600" b="0" i="0">
                <a:solidFill>
                  <a:srgbClr val="111827"/>
                </a:solidFill>
                <a:latin typeface="Calibri"/>
              </a:rPr>
              <a:t>:     bin </a:t>
            </a:r>
            <a:r>
              <a:rPr sz="1600" b="1" i="0">
                <a:solidFill>
                  <a:srgbClr val="111827"/>
                </a:solidFill>
                <a:latin typeface="Calibri"/>
              </a:rPr>
              <a:t>masses</a:t>
            </a:r>
            <a:r>
              <a:rPr sz="1600" b="0" i="0">
                <a:solidFill>
                  <a:srgbClr val="111827"/>
                </a:solidFill>
                <a:latin typeface="Calibri"/>
              </a:rPr>
              <a:t>  quantized in steps of  </a:t>
            </a:r>
            <a:r>
              <a:rPr sz="1600" b="1" i="0">
                <a:solidFill>
                  <a:srgbClr val="111827"/>
                </a:solidFill>
                <a:latin typeface="Calibri"/>
              </a:rPr>
              <a:t>0.02</a:t>
            </a:r>
            <a:r>
              <a:rPr sz="1600" b="0" i="0">
                <a:solidFill>
                  <a:srgbClr val="111827"/>
                </a:solidFill>
                <a:latin typeface="Calibri"/>
              </a:rPr>
              <a:t>   → heights quantized in steps of  </a:t>
            </a:r>
            <a:r>
              <a:rPr sz="1600" b="1" i="0">
                <a:solidFill>
                  <a:srgbClr val="C44536"/>
                </a:solidFill>
                <a:latin typeface="Calibri"/>
              </a:rPr>
              <a:t>2d × 0.02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7280"/>
                </a:solidFill>
                <a:latin typeface="Calibri"/>
              </a:rPr>
              <a:t>Different parameterization. Different height step. Same correction formula.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Piterbarg · Bajaj · Vincent   |   STAT 4830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C44536"/>
                </a:solidFill>
                <a:latin typeface="Calibri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Lemma 3 needs the height step; the code plugs in the mass step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54480"/>
            <a:ext cx="5760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  <a:latin typeface="Calibri"/>
              </a:rPr>
              <a:t>C&amp;S Lemma 3  gives</a:t>
            </a:r>
          </a:p>
          <a:p>
            <a:pPr algn="l"/>
            <a:r>
              <a:rPr sz="1700" b="0" i="0">
                <a:solidFill>
                  <a:srgbClr val="0B3D91"/>
                </a:solidFill>
                <a:latin typeface="Calibri"/>
              </a:rPr>
              <a:t>(g ∗ g)(x)  ≤  (a ∗ a)(x)  +  2ε  +  ε²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where  ε  is a bound on  ‖g − a‖∞  (a </a:t>
            </a:r>
            <a:r>
              <a:rPr sz="1500" b="0" i="1">
                <a:solidFill>
                  <a:srgbClr val="111827"/>
                </a:solidFill>
                <a:latin typeface="Calibri"/>
              </a:rPr>
              <a:t>height</a:t>
            </a:r>
            <a:r>
              <a:rPr sz="1500" b="0" i="0">
                <a:solidFill>
                  <a:srgbClr val="111827"/>
                </a:solidFill>
                <a:latin typeface="Calibri"/>
              </a:rPr>
              <a:t>  difference).</a:t>
            </a:r>
          </a:p>
          <a:p>
            <a:pPr algn="l"/>
            <a:r>
              <a:rPr sz="6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600" b="1" i="0">
                <a:solidFill>
                  <a:srgbClr val="C44536"/>
                </a:solidFill>
                <a:latin typeface="Calibri"/>
              </a:rPr>
              <a:t>In the MATLAB code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ε  =  0.02  (mass step), but heights  h</a:t>
            </a:r>
            <a:r>
              <a:rPr sz="1100" b="0" i="0">
                <a:solidFill>
                  <a:srgbClr val="111827"/>
                </a:solidFill>
                <a:latin typeface="Calibri"/>
              </a:rPr>
              <a:t>i</a:t>
            </a:r>
            <a:r>
              <a:rPr sz="1500" b="0" i="0">
                <a:solidFill>
                  <a:srgbClr val="111827"/>
                </a:solidFill>
                <a:latin typeface="Calibri"/>
              </a:rPr>
              <a:t>  =  2d · mass</a:t>
            </a:r>
            <a:r>
              <a:rPr sz="1100" b="0" i="0">
                <a:solidFill>
                  <a:srgbClr val="111827"/>
                </a:solidFill>
                <a:latin typeface="Calibri"/>
              </a:rPr>
              <a:t>i</a:t>
            </a:r>
            <a:r>
              <a:rPr sz="1500" b="0" i="0">
                <a:solidFill>
                  <a:srgbClr val="111827"/>
                </a:solidFill>
                <a:latin typeface="Calibri"/>
              </a:rPr>
              <a:t>,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so the true  ‖g − a‖∞  ≤  2d × 0.02,  not  0.02.</a:t>
            </a:r>
          </a:p>
          <a:p>
            <a:pPr algn="l"/>
            <a:r>
              <a:rPr sz="6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600" b="1" i="0">
                <a:solidFill>
                  <a:srgbClr val="C44536"/>
                </a:solidFill>
                <a:latin typeface="Calibri"/>
              </a:rPr>
              <a:t>The code's pruning budget is too small by a factor of  ≈ 2d.</a:t>
            </a:r>
          </a:p>
        </p:txBody>
      </p:sp>
      <p:pic>
        <p:nvPicPr>
          <p:cNvPr id="6" name="Picture 5" descr="fig_correctio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486400" cy="26154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Piterbarg · Bajaj · Vincent   |   STAT 4830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C44536"/>
                </a:solidFill>
                <a:latin typeface="Calibri"/>
              </a:rPr>
              <a:t>The consequence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The code would "prove away" a known construction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54480"/>
            <a:ext cx="58521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Calibri"/>
              </a:rPr>
              <a:t>The check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Matolcsi–Vinuesa  (2010)  exhibit a continuous  f*  with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‖f* ∗ f*‖∞  ≤  1.5029.</a:t>
            </a:r>
          </a:p>
          <a:p>
            <a:pPr algn="l"/>
            <a:r>
              <a:rPr sz="1500" b="0" i="1">
                <a:solidFill>
                  <a:srgbClr val="111827"/>
                </a:solidFill>
                <a:latin typeface="Calibri"/>
              </a:rPr>
              <a:t>So  C₁ₐ  ≤  1.5029.</a:t>
            </a:r>
          </a:p>
          <a:p>
            <a:pPr algn="l"/>
            <a:r>
              <a:rPr sz="8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Point the MATLAB cascade at the threshold  1.51: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• interior-window budget stays at ≈ 0.04 across cascade levels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• the step-function approximation of  f*  has self-convolution peaks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  that exceed 1.55 on narrow windows at moderate  d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• the code therefore prunes every descendant of  f*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• exhausted survivors → claim:  C₁ₐ  ≥  1.51</a:t>
            </a:r>
          </a:p>
          <a:p>
            <a:pPr algn="l"/>
            <a:r>
              <a:rPr sz="6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600" b="1" i="0">
                <a:solidFill>
                  <a:srgbClr val="C44536"/>
                </a:solidFill>
                <a:latin typeface="Calibri"/>
              </a:rPr>
              <a:t>But  1.51  &gt;  1.5029  ≥  C₁ₐ.  Contradiction.</a:t>
            </a:r>
          </a:p>
        </p:txBody>
      </p:sp>
      <p:pic>
        <p:nvPicPr>
          <p:cNvPr id="6" name="Picture 5" descr="fig_effective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91640"/>
            <a:ext cx="5303520" cy="22854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5349240"/>
            <a:ext cx="530352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Equivalently: the effective fine-grid  m  in C&amp;S units is  1 / (2d ε)  — it drops below 1 by  d ≈ 25, at which point Lemma 3 says nothing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Piterbarg · Bajaj · Vincent   |   STAT 4830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C44536"/>
                </a:solidFill>
                <a:latin typeface="Calibri"/>
              </a:rPr>
              <a:t>What we're saying — and what we're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The published 1.2802 stands; the shared MATLAB file does not prove 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645920"/>
            <a:ext cx="5394960" cy="4389120"/>
          </a:xfrm>
          <a:prstGeom prst="rect">
            <a:avLst/>
          </a:prstGeom>
          <a:solidFill>
            <a:srgbClr val="F5F6F8"/>
          </a:solidFill>
          <a:ln w="952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0292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The paper is fine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C&amp;S 2017 work on the fine height grid  B</a:t>
            </a:r>
            <a:r>
              <a:rPr sz="1000" b="0" i="0">
                <a:solidFill>
                  <a:srgbClr val="111827"/>
                </a:solidFill>
                <a:latin typeface="Calibri"/>
              </a:rPr>
              <a:t>n,m</a:t>
            </a:r>
            <a:r>
              <a:rPr sz="1400" b="0" i="0">
                <a:solidFill>
                  <a:srgbClr val="111827"/>
                </a:solidFill>
                <a:latin typeface="Calibri"/>
              </a:rPr>
              <a:t>,  where Lemma 3's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2/m + 1/m²  correction is legitimate.  The published bound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1.2802  is not in doubt.</a:t>
            </a:r>
          </a:p>
          <a:p>
            <a:pPr algn="l"/>
            <a:r>
              <a:rPr sz="8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The MATLAB artifact is a different animal: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it enumerates a coarser mass grid, but ports the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paper's correction formula verbatim.  That combination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cannot certify the paper's bound, and, as shown, would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certify bounds that contradict the MV upper bound.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389120"/>
          </a:xfrm>
          <a:prstGeom prst="rect">
            <a:avLst/>
          </a:prstGeom>
          <a:solidFill>
            <a:srgbClr val="F5F6F8"/>
          </a:solidFill>
          <a:ln w="952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0292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C44536"/>
                </a:solidFill>
                <a:latin typeface="Calibri"/>
              </a:rPr>
              <a:t>Two live hypotheses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(a)  They sent us an early prototype.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The published bound was run on a separate fine-grid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enumerator; the coarse-mass file is a speed-oriented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variant never meant to be the proof vehicle.</a:t>
            </a:r>
          </a:p>
          <a:p>
            <a:pPr algn="l"/>
            <a:r>
              <a:rPr sz="8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(b)  A derivation we're missing.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A mass-space bound that avoids the  2d  factor —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unlikely but worth asking about before we conclude.</a:t>
            </a:r>
          </a:p>
          <a:p>
            <a:pPr algn="l"/>
            <a:r>
              <a:rPr sz="8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Either way, this is a narrow claim about one file.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We fixed the analogous bug in our own Python port on 2026-04-07 — switched to the fine grid, which is what makes the cascade's 1.4 sound.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Piterbarg · Bajaj · Vincent   |   STAT 4830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Where C₁ₐ stands after this project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317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_bounds_number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508760"/>
            <a:ext cx="8686800" cy="2564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114800"/>
            <a:ext cx="11064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0B3D91"/>
                </a:solidFill>
                <a:latin typeface="Calibri"/>
              </a:rPr>
              <a:t>Three deliverables</a:t>
            </a:r>
          </a:p>
          <a:p>
            <a:pPr algn="l"/>
            <a:r>
              <a:rPr sz="4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1.  </a:t>
            </a:r>
            <a:r>
              <a:rPr sz="1600" b="1" i="0">
                <a:solidFill>
                  <a:srgbClr val="111827"/>
                </a:solidFill>
                <a:latin typeface="Calibri"/>
              </a:rPr>
              <a:t>Cascade on GPU</a:t>
            </a:r>
            <a:r>
              <a:rPr sz="1600" b="0" i="0">
                <a:solidFill>
                  <a:srgbClr val="111827"/>
                </a:solidFill>
                <a:latin typeface="Calibri"/>
              </a:rPr>
              <a:t>  —  </a:t>
            </a:r>
            <a:r>
              <a:rPr sz="1600" b="1" i="0">
                <a:solidFill>
                  <a:srgbClr val="0B3D91"/>
                </a:solidFill>
                <a:latin typeface="Calibri"/>
              </a:rPr>
              <a:t>C₁ₐ ≥ 1.4</a:t>
            </a:r>
            <a:r>
              <a:rPr sz="1600" b="0" i="0">
                <a:solidFill>
                  <a:srgbClr val="111827"/>
                </a:solidFill>
                <a:latin typeface="Calibri"/>
              </a:rPr>
              <a:t>  via novel pruning bounds + fused CUDA kernels.</a:t>
            </a:r>
          </a:p>
          <a:p>
            <a:pPr algn="l"/>
            <a:r>
              <a:rPr sz="1600" b="1" i="0">
                <a:solidFill>
                  <a:srgbClr val="138086"/>
                </a:solidFill>
                <a:latin typeface="Calibri"/>
              </a:rPr>
              <a:t>2.  </a:t>
            </a:r>
            <a:r>
              <a:rPr sz="1600" b="1" i="0">
                <a:solidFill>
                  <a:srgbClr val="111827"/>
                </a:solidFill>
                <a:latin typeface="Calibri"/>
              </a:rPr>
              <a:t>Lasserre SDP certificate</a:t>
            </a:r>
            <a:r>
              <a:rPr sz="1600" b="0" i="0">
                <a:solidFill>
                  <a:srgbClr val="111827"/>
                </a:solidFill>
                <a:latin typeface="Calibri"/>
              </a:rPr>
              <a:t>  —  </a:t>
            </a:r>
            <a:r>
              <a:rPr sz="1600" b="1" i="0">
                <a:solidFill>
                  <a:srgbClr val="138086"/>
                </a:solidFill>
                <a:latin typeface="Calibri"/>
              </a:rPr>
              <a:t>C₁ₐ ≥ 1.3 (certified)</a:t>
            </a:r>
            <a:r>
              <a:rPr sz="1600" b="0" i="0">
                <a:solidFill>
                  <a:srgbClr val="111827"/>
                </a:solidFill>
                <a:latin typeface="Calibri"/>
              </a:rPr>
              <a:t>  at  (d,k)=(16,3)  in under 10 minutes.</a:t>
            </a:r>
          </a:p>
          <a:p>
            <a:pPr algn="l"/>
            <a:r>
              <a:rPr sz="1600" b="1" i="0">
                <a:solidFill>
                  <a:srgbClr val="C44536"/>
                </a:solidFill>
                <a:latin typeface="Calibri"/>
              </a:rPr>
              <a:t>3.  </a:t>
            </a:r>
            <a:r>
              <a:rPr sz="1600" b="1" i="0">
                <a:solidFill>
                  <a:srgbClr val="111827"/>
                </a:solidFill>
                <a:latin typeface="Calibri"/>
              </a:rPr>
              <a:t>MATLAB audit</a:t>
            </a:r>
            <a:r>
              <a:rPr sz="1600" b="0" i="0">
                <a:solidFill>
                  <a:srgbClr val="111827"/>
                </a:solidFill>
                <a:latin typeface="Calibri"/>
              </a:rPr>
              <a:t>  —  the shared C&amp;S artifact confuses the mass step for the height step; </a:t>
            </a:r>
            <a:r>
              <a:rPr sz="1600" b="0" i="1">
                <a:solidFill>
                  <a:srgbClr val="111827"/>
                </a:solidFill>
                <a:latin typeface="Calibri"/>
              </a:rPr>
              <a:t>the published paper is unaffected.</a:t>
            </a:r>
          </a:p>
          <a:p>
            <a:pPr algn="l"/>
            <a:r>
              <a:rPr sz="4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Next:  formal write-ups for both proofs in </a:t>
            </a:r>
            <a:r>
              <a:rPr sz="1500" b="0" i="0">
                <a:solidFill>
                  <a:srgbClr val="6B7280"/>
                </a:solidFill>
                <a:latin typeface="Consolas"/>
              </a:rPr>
              <a:t>proof/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,  push cascade to  d ≥ 256,  close the gap toward 1.5029.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Piterbarg · Bajaj · Vincent   |   STAT 4830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