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h5xH/7hGQgNDVaJLSYwS+20qXI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8099d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8099d54d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8099d54d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8099d54d7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8099d54d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d8099d54d7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73152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STAT 4830    ·    SPRING 2026</a:t>
            </a:r>
            <a:endParaRPr/>
          </a:p>
        </p:txBody>
      </p:sp>
      <p:cxnSp>
        <p:nvCxnSpPr>
          <p:cNvPr id="86" name="Google Shape;86;p1"/>
          <p:cNvCxnSpPr/>
          <p:nvPr/>
        </p:nvCxnSpPr>
        <p:spPr>
          <a:xfrm>
            <a:off x="731520" y="1143000"/>
            <a:ext cx="2377440" cy="0"/>
          </a:xfrm>
          <a:prstGeom prst="straightConnector1">
            <a:avLst/>
          </a:prstGeom>
          <a:noFill/>
          <a:ln cap="flat" cmpd="sng" w="13950">
            <a:solidFill>
              <a:srgbClr val="1C191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7" name="Google Shape;87;p1"/>
          <p:cNvSpPr txBox="1"/>
          <p:nvPr/>
        </p:nvSpPr>
        <p:spPr>
          <a:xfrm>
            <a:off x="731520" y="1874519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Lower Bounds for the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31520" y="2651760"/>
            <a:ext cx="10789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52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Autoconvolution Constant</a:t>
            </a:r>
            <a:endParaRPr/>
          </a:p>
        </p:txBody>
      </p:sp>
      <p:cxnSp>
        <p:nvCxnSpPr>
          <p:cNvPr id="89" name="Google Shape;89;p1"/>
          <p:cNvCxnSpPr/>
          <p:nvPr/>
        </p:nvCxnSpPr>
        <p:spPr>
          <a:xfrm>
            <a:off x="832107" y="3706250"/>
            <a:ext cx="1078980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0" name="Google Shape;90;p1"/>
          <p:cNvSpPr txBox="1"/>
          <p:nvPr/>
        </p:nvSpPr>
        <p:spPr>
          <a:xfrm>
            <a:off x="700945" y="5996780"/>
            <a:ext cx="10789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Andrei Piterbarg     Jai Bajaj     Derrick Vincent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§1 · THE PROBLEM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How small can the peak of a normalized self-convolution be?</a:t>
            </a:r>
            <a:endParaRPr/>
          </a:p>
        </p:txBody>
      </p:sp>
      <p:cxnSp>
        <p:nvCxnSpPr>
          <p:cNvPr id="98" name="Google Shape;98;p2"/>
          <p:cNvCxnSpPr/>
          <p:nvPr/>
        </p:nvCxnSpPr>
        <p:spPr>
          <a:xfrm>
            <a:off x="548640" y="1335024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9" name="Google Shape;99;p2"/>
          <p:cNvSpPr txBox="1"/>
          <p:nvPr/>
        </p:nvSpPr>
        <p:spPr>
          <a:xfrm>
            <a:off x="548640" y="1691640"/>
            <a:ext cx="5760600" cy="27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Given  </a:t>
            </a:r>
            <a:r>
              <a:rPr b="0" i="1" lang="en-US" sz="1900" u="none" cap="none" strike="noStrike">
                <a:solidFill>
                  <a:srgbClr val="25435F"/>
                </a:solidFill>
                <a:latin typeface="Georgia"/>
                <a:ea typeface="Georgia"/>
                <a:cs typeface="Georgia"/>
                <a:sym typeface="Georgia"/>
              </a:rPr>
              <a:t>f : ℝ → ℝ₊</a:t>
            </a:r>
            <a:r>
              <a:rPr b="0" i="0" lang="en-US" sz="18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with  supp </a:t>
            </a:r>
            <a:r>
              <a:rPr b="0" i="1" lang="en-US" sz="18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0" i="0" lang="en-US" sz="18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⊆  [−¼, ¼]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and  </a:t>
            </a:r>
            <a:r>
              <a:rPr b="0" i="1" lang="en-US" sz="18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∫ f = 1</a:t>
            </a:r>
            <a:r>
              <a:rPr b="0" i="0" lang="en-US" sz="18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,   define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C₁ₐ  =  inf  ‖ f ∗ f ‖∞</a:t>
            </a:r>
            <a:endParaRPr b="0" i="1" sz="3400" u="none" cap="none" strike="noStrike">
              <a:solidFill>
                <a:srgbClr val="1C19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·  connected to Sidon  /  generalized Sidon set densities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·  best published bounds  have not moved  since 2017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·  every improvement is a real contribution</a:t>
            </a:r>
            <a:endParaRPr/>
          </a:p>
        </p:txBody>
      </p:sp>
      <p:pic>
        <p:nvPicPr>
          <p:cNvPr descr="fig_autoconv_intuition.png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520" y="1828800"/>
            <a:ext cx="5394960" cy="15144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2"/>
          <p:cNvCxnSpPr/>
          <p:nvPr/>
        </p:nvCxnSpPr>
        <p:spPr>
          <a:xfrm>
            <a:off x="548640" y="521208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2" name="Google Shape;102;p2"/>
          <p:cNvSpPr txBox="1"/>
          <p:nvPr/>
        </p:nvSpPr>
        <p:spPr>
          <a:xfrm>
            <a:off x="548640" y="5349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BEST PUBLISHED BOUNDS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435F"/>
                </a:solidFill>
                <a:latin typeface="Georgia"/>
                <a:ea typeface="Georgia"/>
                <a:cs typeface="Georgia"/>
                <a:sym typeface="Georgia"/>
              </a:rPr>
              <a:t>1.2802</a:t>
            </a:r>
            <a:r>
              <a:rPr b="0" i="0" lang="en-US" sz="24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   ≤   </a:t>
            </a:r>
            <a:r>
              <a:rPr b="0" i="1" lang="en-US" sz="28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C₁ₐ</a:t>
            </a:r>
            <a:r>
              <a:rPr b="0" i="0" lang="en-US" sz="24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   ≤   </a:t>
            </a:r>
            <a:r>
              <a:rPr b="1" i="0" lang="en-US" sz="2800" u="none" cap="none" strike="noStrike">
                <a:solidFill>
                  <a:srgbClr val="8E3A38"/>
                </a:solidFill>
                <a:latin typeface="Georgia"/>
                <a:ea typeface="Georgia"/>
                <a:cs typeface="Georgia"/>
                <a:sym typeface="Georgia"/>
              </a:rPr>
              <a:t>1.5029</a:t>
            </a:r>
            <a:r>
              <a:rPr b="0" i="1" lang="en-US" sz="14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        unchanged since 2017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Piterbarg  ·  Bajaj  ·  Vincent        STAT 4830  —  Spring 2026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0282419" y="6560774"/>
            <a:ext cx="82200" cy="82200"/>
          </a:xfrm>
          <a:prstGeom prst="ellipse">
            <a:avLst/>
          </a:prstGeom>
          <a:solidFill>
            <a:srgbClr val="1C19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2543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548640" y="658368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Recursive refinement with novel pruning, fused GPU kernels</a:t>
            </a:r>
            <a:endParaRPr/>
          </a:p>
        </p:txBody>
      </p:sp>
      <p:cxnSp>
        <p:nvCxnSpPr>
          <p:cNvPr id="121" name="Google Shape;121;p5"/>
          <p:cNvCxnSpPr/>
          <p:nvPr/>
        </p:nvCxnSpPr>
        <p:spPr>
          <a:xfrm>
            <a:off x="548640" y="1335024"/>
            <a:ext cx="1106430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pic>
        <p:nvPicPr>
          <p:cNvPr descr="fig_cascade_schematic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28592" t="0"/>
          <a:stretch/>
        </p:blipFill>
        <p:spPr>
          <a:xfrm>
            <a:off x="6962650" y="1443475"/>
            <a:ext cx="4650302" cy="2980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548640" y="651052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Piterbarg  ·  Bajaj  ·  Vincent        STAT 4830  —  Spring 2026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1159916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1434572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1269980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1105388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0940796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077620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611612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0447020" y="6560820"/>
            <a:ext cx="82200" cy="82200"/>
          </a:xfrm>
          <a:prstGeom prst="ellipse">
            <a:avLst/>
          </a:prstGeom>
          <a:solidFill>
            <a:srgbClr val="2543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282428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6962638" y="4806388"/>
            <a:ext cx="37620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75" lIns="11675" spcFirstLastPara="1" rIns="11675" wrap="square" tIns="11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3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Led to us proving </a:t>
            </a:r>
            <a:r>
              <a:rPr b="0" i="0" lang="en-US" sz="2433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C₁ₐ ≥ 1.4</a:t>
            </a:r>
            <a:endParaRPr sz="200"/>
          </a:p>
        </p:txBody>
      </p:sp>
      <p:sp>
        <p:nvSpPr>
          <p:cNvPr id="134" name="Google Shape;134;p5"/>
          <p:cNvSpPr txBox="1"/>
          <p:nvPr/>
        </p:nvSpPr>
        <p:spPr>
          <a:xfrm>
            <a:off x="6962659" y="5264598"/>
            <a:ext cx="35052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00" lIns="58400" spcFirstLastPara="1" rIns="58400" wrap="square" tIns="292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at  </a:t>
            </a:r>
            <a:r>
              <a:rPr b="0" i="1" lang="en-US" sz="115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(d, m) = (128, 20)</a:t>
            </a:r>
            <a:endParaRPr sz="894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22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≈ 70 hours  on a 128-core machine</a:t>
            </a:r>
            <a:endParaRPr sz="894"/>
          </a:p>
        </p:txBody>
      </p:sp>
      <p:sp>
        <p:nvSpPr>
          <p:cNvPr id="135" name="Google Shape;135;p5"/>
          <p:cNvSpPr txBox="1"/>
          <p:nvPr/>
        </p:nvSpPr>
        <p:spPr>
          <a:xfrm>
            <a:off x="548651" y="1645925"/>
            <a:ext cx="7020300" cy="48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25435F"/>
                </a:solidFill>
                <a:latin typeface="Georgia"/>
                <a:ea typeface="Georgia"/>
                <a:cs typeface="Georgia"/>
                <a:sym typeface="Georgia"/>
              </a:rPr>
              <a:t>CS-Algorithm</a:t>
            </a:r>
            <a:endParaRPr b="1" sz="1600">
              <a:solidFill>
                <a:srgbClr val="1C19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1.  Discretize</a:t>
            </a:r>
            <a:r>
              <a:rPr lang="en-US" sz="1200"/>
              <a:t> - </a:t>
            </a:r>
            <a:r>
              <a:rPr lang="en-US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partition  [−¼, ¼]  into  </a:t>
            </a:r>
            <a:r>
              <a:rPr i="1" lang="en-US" sz="1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d = 2n</a:t>
            </a:r>
            <a:r>
              <a:rPr lang="en-US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bins;  approximate  </a:t>
            </a:r>
            <a:r>
              <a:rPr i="1" lang="en-US" sz="1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lang="en-US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by a step function  </a:t>
            </a:r>
            <a:r>
              <a:rPr i="1" lang="en-US" sz="1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US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with heights in  (1/m)ℕ</a:t>
            </a:r>
            <a:endParaRPr sz="120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2.  Windowed test values</a:t>
            </a:r>
            <a:r>
              <a:rPr lang="en-US" sz="1200"/>
              <a:t> - </a:t>
            </a:r>
            <a:r>
              <a:rPr lang="en-US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for each window  W,  lower-bound  ‖f ∗ f‖∞  by a quadratic form in the bin heights</a:t>
            </a:r>
            <a:endParaRPr sz="12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3.  Prune</a:t>
            </a:r>
            <a:r>
              <a:rPr lang="en-US" sz="1200"/>
              <a:t> - </a:t>
            </a:r>
            <a:r>
              <a:rPr lang="en-US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rule out any height vector whose test value exceeds the target threshold</a:t>
            </a:r>
            <a:endParaRPr sz="12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4.  Exhaust</a:t>
            </a:r>
            <a:r>
              <a:rPr lang="en-US" sz="1200"/>
              <a:t> - </a:t>
            </a:r>
            <a:r>
              <a:rPr lang="en-US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if all grid points are pruned, the bound is proved</a:t>
            </a:r>
            <a:endParaRPr sz="120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5435F"/>
                </a:solidFill>
                <a:latin typeface="Georgia"/>
                <a:ea typeface="Georgia"/>
                <a:cs typeface="Georgia"/>
                <a:sym typeface="Georgia"/>
              </a:rPr>
              <a:t>Novel pruning bounds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·  contiguous-block sums catch interior concentrations</a:t>
            </a:r>
            <a:endParaRPr sz="12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·  two-max enhanced bound — cross-term dominance</a:t>
            </a:r>
            <a:endParaRPr sz="12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·  edge-pair cross-terms  </a:t>
            </a:r>
            <a:r>
              <a:rPr b="0" i="1" lang="en-US" sz="12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c₀ · c_{d−1}</a:t>
            </a:r>
            <a:endParaRPr b="0" i="1" sz="1200" u="none" cap="none" strike="noStrike">
              <a:solidFill>
                <a:srgbClr val="1C19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rgbClr val="1C19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5435F"/>
                </a:solidFill>
                <a:latin typeface="Georgia"/>
                <a:ea typeface="Georgia"/>
                <a:cs typeface="Georgia"/>
                <a:sym typeface="Georgia"/>
              </a:rPr>
              <a:t>Fused CUDA kernel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·  everything on-GPU;  no global-memory round trips</a:t>
            </a:r>
            <a:endParaRPr sz="12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·  early exit on partial convolution sums  (most compositions die cheap)</a:t>
            </a:r>
            <a:endParaRPr sz="12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·  two-stage freeze kernel at deep levels — perturbation bound</a:t>
            </a:r>
            <a:endParaRPr sz="12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clears 90 %+ of frozen cases, avoiding warp divergence</a:t>
            </a:r>
            <a:endParaRPr sz="12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1" lang="en-US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Measured 400</a:t>
            </a:r>
            <a:r>
              <a:rPr b="1" i="0" lang="en-US" sz="1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×  speedup over the naive enumerator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E3A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9"/>
          <p:cNvCxnSpPr/>
          <p:nvPr/>
        </p:nvCxnSpPr>
        <p:spPr>
          <a:xfrm>
            <a:off x="548640" y="1335024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3" name="Google Shape;143;p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Piterbarg  ·  Bajaj  ·  Vincent        STAT 4830  —  Spring 2026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8E3A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962406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548640" y="658368"/>
            <a:ext cx="11064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A Critical Discovery</a:t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548640" y="1645920"/>
            <a:ext cx="110643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When we set out to </a:t>
            </a:r>
            <a:r>
              <a:rPr lang="en-US" sz="17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improve </a:t>
            </a:r>
            <a:r>
              <a:rPr b="0" i="1" lang="en-US" sz="17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C₁ₐ ≥ 1.2802</a:t>
            </a:r>
            <a:r>
              <a:rPr b="0" i="0" lang="en-US" sz="17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we reached out to Cloninger &amp; Steinerberger </a:t>
            </a:r>
            <a:r>
              <a:rPr lang="en-US" sz="17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and they gave us their source code</a:t>
            </a:r>
            <a:endParaRPr b="0" i="0" sz="17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We built ontop of the algorithm in this source code. However, while we were writing out Lean proof we discovered that</a:t>
            </a:r>
            <a:r>
              <a:rPr lang="en-US"/>
              <a:t> t</a:t>
            </a:r>
            <a:r>
              <a:rPr b="0" i="0" lang="en-US" sz="17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he MATLAB file,</a:t>
            </a:r>
            <a:r>
              <a:rPr lang="en-US" sz="17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did not actually match their formal proof</a:t>
            </a:r>
            <a:r>
              <a:rPr b="0" i="0" lang="en-US" sz="17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548659" y="2895150"/>
            <a:ext cx="10968300" cy="1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C&amp;S Lemma 3  gives:</a:t>
            </a:r>
            <a:r>
              <a:rPr lang="en-US"/>
              <a:t> </a:t>
            </a:r>
            <a:r>
              <a:rPr b="0" i="1" lang="en-US" sz="17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(g ∗ g)(x)   ≤   (a ∗ a)(x)  +  2ε  +  ε²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where 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ε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is a bound on 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‖g − a‖∞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(a  </a:t>
            </a:r>
            <a:r>
              <a:rPr b="1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height</a:t>
            </a:r>
            <a:r>
              <a:rPr b="1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difference).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E3A38"/>
                </a:solidFill>
                <a:latin typeface="Georgia"/>
                <a:ea typeface="Georgia"/>
                <a:cs typeface="Georgia"/>
                <a:sym typeface="Georgia"/>
              </a:rPr>
              <a:t>In the MATLAB code</a:t>
            </a:r>
            <a:r>
              <a:rPr lang="en-US"/>
              <a:t>: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ε = 0.02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(mass step),  but heights 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hᵢ = 2d · massᵢ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/>
              <a:t> 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so the true 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‖g − a‖∞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≤ 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2d × 0.02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,   not 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0.02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code's pruning budget is too small by a factor of  </a:t>
            </a:r>
            <a:r>
              <a:rPr b="1" i="0" lang="en-US" sz="2000" u="none" cap="none" strike="noStrike">
                <a:solidFill>
                  <a:srgbClr val="8E3A38"/>
                </a:solidFill>
                <a:latin typeface="Georgia"/>
                <a:ea typeface="Georgia"/>
                <a:cs typeface="Georgia"/>
                <a:sym typeface="Georgia"/>
              </a:rPr>
              <a:t>≈ 2d.</a:t>
            </a:r>
            <a:endParaRPr/>
          </a:p>
        </p:txBody>
      </p:sp>
      <p:pic>
        <p:nvPicPr>
          <p:cNvPr descr="fig_correction_gap.png"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915" y="3979335"/>
            <a:ext cx="5394961" cy="253118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 txBox="1"/>
          <p:nvPr/>
        </p:nvSpPr>
        <p:spPr>
          <a:xfrm>
            <a:off x="548640" y="4439870"/>
            <a:ext cx="57606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The check:</a:t>
            </a:r>
            <a:r>
              <a:rPr b="1" lang="en-US" sz="1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best known upper bound is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C₁ₐ ≤ 1.5029</a:t>
            </a:r>
            <a:r>
              <a:rPr b="0" i="1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However, using the MATLAB cascade </a:t>
            </a: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it </a:t>
            </a: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claimed </a:t>
            </a:r>
            <a:r>
              <a:rPr lang="en-US" sz="1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that</a:t>
            </a: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1" lang="en-US" sz="13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C₁ₐ ≥ 1.51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E3A38"/>
                </a:solidFill>
                <a:latin typeface="Georgia"/>
                <a:ea typeface="Georgia"/>
                <a:cs typeface="Georgia"/>
                <a:sym typeface="Georgia"/>
              </a:rPr>
              <a:t>But  </a:t>
            </a:r>
            <a:r>
              <a:rPr b="1" i="1" lang="en-US" sz="1500" u="none" cap="none" strike="noStrike">
                <a:solidFill>
                  <a:srgbClr val="8E3A38"/>
                </a:solidFill>
                <a:latin typeface="Georgia"/>
                <a:ea typeface="Georgia"/>
                <a:cs typeface="Georgia"/>
                <a:sym typeface="Georgia"/>
              </a:rPr>
              <a:t>1.51 &gt; 1.5029 ≥ C₁ₐ</a:t>
            </a:r>
            <a:r>
              <a:rPr b="1" i="0" lang="en-US" sz="1500" u="none" cap="none" strike="noStrike">
                <a:solidFill>
                  <a:srgbClr val="8E3A38"/>
                </a:solidFill>
                <a:latin typeface="Georgia"/>
                <a:ea typeface="Georgia"/>
                <a:cs typeface="Georgia"/>
                <a:sym typeface="Georgia"/>
              </a:rPr>
              <a:t>.    Contradiction.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E3A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The paper stands;  the shared MATLAB file does not prove it</a:t>
            </a:r>
            <a:endParaRPr/>
          </a:p>
        </p:txBody>
      </p:sp>
      <p:cxnSp>
        <p:nvCxnSpPr>
          <p:cNvPr id="169" name="Google Shape;169;p12"/>
          <p:cNvCxnSpPr/>
          <p:nvPr/>
        </p:nvCxnSpPr>
        <p:spPr>
          <a:xfrm>
            <a:off x="548640" y="1335024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0" name="Google Shape;170;p12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PAPER IS FINE</a:t>
            </a:r>
            <a:endParaRPr/>
          </a:p>
        </p:txBody>
      </p:sp>
      <p:cxnSp>
        <p:nvCxnSpPr>
          <p:cNvPr id="171" name="Google Shape;171;p12"/>
          <p:cNvCxnSpPr/>
          <p:nvPr/>
        </p:nvCxnSpPr>
        <p:spPr>
          <a:xfrm>
            <a:off x="548640" y="2011680"/>
            <a:ext cx="1463040" cy="0"/>
          </a:xfrm>
          <a:prstGeom prst="straightConnector1">
            <a:avLst/>
          </a:prstGeom>
          <a:noFill/>
          <a:ln cap="flat" cmpd="sng" w="16500">
            <a:solidFill>
              <a:srgbClr val="1C191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2" name="Google Shape;172;p12"/>
          <p:cNvSpPr txBox="1"/>
          <p:nvPr/>
        </p:nvSpPr>
        <p:spPr>
          <a:xfrm>
            <a:off x="548640" y="2194560"/>
            <a:ext cx="53949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C&amp;S 2017 work on the fine height grid 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b="0" i="1" lang="en-US" sz="1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n,m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where Lemma 3's 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2/m + 1/m²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correction is legitimate.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MATLAB artifact is a different animal: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it enumerates a coarser mass grid, but ports the paper's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correction formula verbatim.  That combination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cannot certify the paper's bound, and as shown would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certify bounds that contradict the MV upper bound.</a:t>
            </a:r>
            <a:endParaRPr b="0" i="0" sz="14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6355080" y="1691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E3A38"/>
                </a:solidFill>
                <a:latin typeface="Calibri"/>
                <a:ea typeface="Calibri"/>
                <a:cs typeface="Calibri"/>
                <a:sym typeface="Calibri"/>
              </a:rPr>
              <a:t>TWO LIVE HYPOTHESES</a:t>
            </a:r>
            <a:endParaRPr/>
          </a:p>
        </p:txBody>
      </p:sp>
      <p:cxnSp>
        <p:nvCxnSpPr>
          <p:cNvPr id="174" name="Google Shape;174;p12"/>
          <p:cNvCxnSpPr/>
          <p:nvPr/>
        </p:nvCxnSpPr>
        <p:spPr>
          <a:xfrm>
            <a:off x="6355080" y="2011680"/>
            <a:ext cx="1463040" cy="0"/>
          </a:xfrm>
          <a:prstGeom prst="straightConnector1">
            <a:avLst/>
          </a:prstGeom>
          <a:noFill/>
          <a:ln cap="flat" cmpd="sng" w="16500">
            <a:solidFill>
              <a:srgbClr val="8E3A3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5" name="Google Shape;175;p12"/>
          <p:cNvSpPr txBox="1"/>
          <p:nvPr/>
        </p:nvSpPr>
        <p:spPr>
          <a:xfrm>
            <a:off x="6355080" y="2194560"/>
            <a:ext cx="5394900" cy="3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(a)  They sent us an early prototype.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1C19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published bound was run on a separate fine-grid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enumerator;  the coarse-mass file is a speed-oriented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variant never meant to be the proof vehicle.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(b)  A derivation we're missing.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1C19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 mass-space bound that avoids the  </a:t>
            </a:r>
            <a:r>
              <a:rPr b="0" i="1" lang="en-US" sz="13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2d</a:t>
            </a: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factor — 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unlikely, but worth asking about before we conclude.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Piterbarg  ·  Bajaj  ·  Vincent        STAT 4830  —  Spring 2026</a:t>
            </a: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8E3A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962406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8099d54d7_0_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d8099d54d7_0_6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8E3A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8099d54d7_0_6"/>
          <p:cNvSpPr txBox="1"/>
          <p:nvPr/>
        </p:nvSpPr>
        <p:spPr>
          <a:xfrm>
            <a:off x="548640" y="658368"/>
            <a:ext cx="11064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The paper stands;  the shared MATLAB file does not prove it</a:t>
            </a:r>
            <a:endParaRPr/>
          </a:p>
        </p:txBody>
      </p:sp>
      <p:cxnSp>
        <p:nvCxnSpPr>
          <p:cNvPr id="197" name="Google Shape;197;g3d8099d54d7_0_6"/>
          <p:cNvCxnSpPr/>
          <p:nvPr/>
        </p:nvCxnSpPr>
        <p:spPr>
          <a:xfrm>
            <a:off x="548640" y="1335024"/>
            <a:ext cx="1106430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98" name="Google Shape;198;g3d8099d54d7_0_6"/>
          <p:cNvSpPr txBox="1"/>
          <p:nvPr/>
        </p:nvSpPr>
        <p:spPr>
          <a:xfrm>
            <a:off x="548640" y="1691640"/>
            <a:ext cx="54864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PAPER IS FINE</a:t>
            </a:r>
            <a:endParaRPr/>
          </a:p>
        </p:txBody>
      </p:sp>
      <p:cxnSp>
        <p:nvCxnSpPr>
          <p:cNvPr id="199" name="Google Shape;199;g3d8099d54d7_0_6"/>
          <p:cNvCxnSpPr/>
          <p:nvPr/>
        </p:nvCxnSpPr>
        <p:spPr>
          <a:xfrm>
            <a:off x="548640" y="2011680"/>
            <a:ext cx="1463100" cy="0"/>
          </a:xfrm>
          <a:prstGeom prst="straightConnector1">
            <a:avLst/>
          </a:prstGeom>
          <a:noFill/>
          <a:ln cap="flat" cmpd="sng" w="16500">
            <a:solidFill>
              <a:srgbClr val="1C191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00" name="Google Shape;200;g3d8099d54d7_0_6"/>
          <p:cNvSpPr txBox="1"/>
          <p:nvPr/>
        </p:nvSpPr>
        <p:spPr>
          <a:xfrm>
            <a:off x="548640" y="2194560"/>
            <a:ext cx="53949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C&amp;S 2017 work on the fine height grid 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b="0" i="1" lang="en-US" sz="1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n,m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where Lemma 3's  </a:t>
            </a:r>
            <a:r>
              <a:rPr b="0" i="1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2/m + 1/m²</a:t>
            </a: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correction is legitimate.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MATLAB artifact is a different animal: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it enumerates a coarser mass grid, but ports the paper's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correction formula verbatim.  That combination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cannot certify the paper's bound, and as shown would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certify bounds that contradict the MV upper bound.</a:t>
            </a:r>
            <a:endParaRPr b="0" i="0" sz="14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d8099d54d7_0_6"/>
          <p:cNvSpPr txBox="1"/>
          <p:nvPr/>
        </p:nvSpPr>
        <p:spPr>
          <a:xfrm>
            <a:off x="6355080" y="1691640"/>
            <a:ext cx="54864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E3A38"/>
                </a:solidFill>
                <a:latin typeface="Calibri"/>
                <a:ea typeface="Calibri"/>
                <a:cs typeface="Calibri"/>
                <a:sym typeface="Calibri"/>
              </a:rPr>
              <a:t>TWO LIVE HYPOTHESES</a:t>
            </a:r>
            <a:endParaRPr/>
          </a:p>
        </p:txBody>
      </p:sp>
      <p:cxnSp>
        <p:nvCxnSpPr>
          <p:cNvPr id="202" name="Google Shape;202;g3d8099d54d7_0_6"/>
          <p:cNvCxnSpPr/>
          <p:nvPr/>
        </p:nvCxnSpPr>
        <p:spPr>
          <a:xfrm>
            <a:off x="6355080" y="2011680"/>
            <a:ext cx="1463100" cy="0"/>
          </a:xfrm>
          <a:prstGeom prst="straightConnector1">
            <a:avLst/>
          </a:prstGeom>
          <a:noFill/>
          <a:ln cap="flat" cmpd="sng" w="16500">
            <a:solidFill>
              <a:srgbClr val="8E3A3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03" name="Google Shape;203;g3d8099d54d7_0_6"/>
          <p:cNvSpPr txBox="1"/>
          <p:nvPr/>
        </p:nvSpPr>
        <p:spPr>
          <a:xfrm>
            <a:off x="6355080" y="2194560"/>
            <a:ext cx="5394900" cy="3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(a)  They sent us an early prototype.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1C19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published bound was run on a separate fine-grid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enumerator;  the coarse-mass file is a speed-oriented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variant never meant to be the proof vehicle.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(b)  A derivation we're missing.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1C19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 mass-space bound that avoids the  </a:t>
            </a:r>
            <a:r>
              <a:rPr b="0" i="1" lang="en-US" sz="13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2d</a:t>
            </a: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factor — 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unlikely, but worth asking about before we conclude.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8099d54d7_0_6"/>
          <p:cNvSpPr txBox="1"/>
          <p:nvPr/>
        </p:nvSpPr>
        <p:spPr>
          <a:xfrm>
            <a:off x="548640" y="6510528"/>
            <a:ext cx="7315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Piterbarg  ·  Bajaj  ·  Vincent        STAT 4830  —  Spring 2026</a:t>
            </a:r>
            <a:endParaRPr/>
          </a:p>
        </p:txBody>
      </p:sp>
      <p:sp>
        <p:nvSpPr>
          <p:cNvPr id="205" name="Google Shape;205;g3d8099d54d7_0_6"/>
          <p:cNvSpPr/>
          <p:nvPr/>
        </p:nvSpPr>
        <p:spPr>
          <a:xfrm>
            <a:off x="1159916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d8099d54d7_0_6"/>
          <p:cNvSpPr/>
          <p:nvPr/>
        </p:nvSpPr>
        <p:spPr>
          <a:xfrm>
            <a:off x="11434572" y="6560820"/>
            <a:ext cx="82200" cy="82200"/>
          </a:xfrm>
          <a:prstGeom prst="ellipse">
            <a:avLst/>
          </a:prstGeom>
          <a:solidFill>
            <a:srgbClr val="8E3A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8099d54d7_0_6"/>
          <p:cNvSpPr/>
          <p:nvPr/>
        </p:nvSpPr>
        <p:spPr>
          <a:xfrm>
            <a:off x="11269980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d8099d54d7_0_6"/>
          <p:cNvSpPr/>
          <p:nvPr/>
        </p:nvSpPr>
        <p:spPr>
          <a:xfrm>
            <a:off x="11105388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8099d54d7_0_6"/>
          <p:cNvSpPr/>
          <p:nvPr/>
        </p:nvSpPr>
        <p:spPr>
          <a:xfrm>
            <a:off x="10940796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d8099d54d7_0_6"/>
          <p:cNvSpPr/>
          <p:nvPr/>
        </p:nvSpPr>
        <p:spPr>
          <a:xfrm>
            <a:off x="1077620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d8099d54d7_0_6"/>
          <p:cNvSpPr/>
          <p:nvPr/>
        </p:nvSpPr>
        <p:spPr>
          <a:xfrm>
            <a:off x="10611612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d8099d54d7_0_6"/>
          <p:cNvSpPr/>
          <p:nvPr/>
        </p:nvSpPr>
        <p:spPr>
          <a:xfrm>
            <a:off x="10447020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d8099d54d7_0_6"/>
          <p:cNvSpPr/>
          <p:nvPr/>
        </p:nvSpPr>
        <p:spPr>
          <a:xfrm>
            <a:off x="10282428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d8099d54d7_0_6"/>
          <p:cNvSpPr/>
          <p:nvPr/>
        </p:nvSpPr>
        <p:spPr>
          <a:xfrm>
            <a:off x="10117836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d8099d54d7_0_6"/>
          <p:cNvSpPr/>
          <p:nvPr/>
        </p:nvSpPr>
        <p:spPr>
          <a:xfrm>
            <a:off x="995324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d8099d54d7_0_6"/>
          <p:cNvSpPr/>
          <p:nvPr/>
        </p:nvSpPr>
        <p:spPr>
          <a:xfrm>
            <a:off x="9788652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d8099d54d7_0_6"/>
          <p:cNvSpPr/>
          <p:nvPr/>
        </p:nvSpPr>
        <p:spPr>
          <a:xfrm>
            <a:off x="9624060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8099d54d7_0_3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d8099d54d7_0_33"/>
          <p:cNvSpPr txBox="1"/>
          <p:nvPr/>
        </p:nvSpPr>
        <p:spPr>
          <a:xfrm>
            <a:off x="548640" y="658368"/>
            <a:ext cx="11064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An alternate solution</a:t>
            </a:r>
            <a:endParaRPr/>
          </a:p>
        </p:txBody>
      </p:sp>
      <p:cxnSp>
        <p:nvCxnSpPr>
          <p:cNvPr id="224" name="Google Shape;224;g3d8099d54d7_0_33"/>
          <p:cNvCxnSpPr/>
          <p:nvPr/>
        </p:nvCxnSpPr>
        <p:spPr>
          <a:xfrm>
            <a:off x="548640" y="1335024"/>
            <a:ext cx="1106430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25" name="Google Shape;225;g3d8099d54d7_0_33"/>
          <p:cNvSpPr txBox="1"/>
          <p:nvPr/>
        </p:nvSpPr>
        <p:spPr>
          <a:xfrm>
            <a:off x="548640" y="6510528"/>
            <a:ext cx="7315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Piterbarg  ·  Bajaj  ·  Vincent        STAT 4830  —  Spring 2026</a:t>
            </a:r>
            <a:endParaRPr/>
          </a:p>
        </p:txBody>
      </p:sp>
      <p:sp>
        <p:nvSpPr>
          <p:cNvPr id="226" name="Google Shape;226;g3d8099d54d7_0_33"/>
          <p:cNvSpPr/>
          <p:nvPr/>
        </p:nvSpPr>
        <p:spPr>
          <a:xfrm>
            <a:off x="1159916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d8099d54d7_0_33"/>
          <p:cNvSpPr/>
          <p:nvPr/>
        </p:nvSpPr>
        <p:spPr>
          <a:xfrm>
            <a:off x="11434572" y="6560820"/>
            <a:ext cx="82200" cy="82200"/>
          </a:xfrm>
          <a:prstGeom prst="ellipse">
            <a:avLst/>
          </a:prstGeom>
          <a:solidFill>
            <a:srgbClr val="8E3A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d8099d54d7_0_33"/>
          <p:cNvSpPr/>
          <p:nvPr/>
        </p:nvSpPr>
        <p:spPr>
          <a:xfrm>
            <a:off x="11269980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d8099d54d7_0_33"/>
          <p:cNvSpPr/>
          <p:nvPr/>
        </p:nvSpPr>
        <p:spPr>
          <a:xfrm>
            <a:off x="11105388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d8099d54d7_0_33"/>
          <p:cNvSpPr/>
          <p:nvPr/>
        </p:nvSpPr>
        <p:spPr>
          <a:xfrm>
            <a:off x="10940796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d8099d54d7_0_33"/>
          <p:cNvSpPr/>
          <p:nvPr/>
        </p:nvSpPr>
        <p:spPr>
          <a:xfrm>
            <a:off x="1077620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d8099d54d7_0_33"/>
          <p:cNvSpPr/>
          <p:nvPr/>
        </p:nvSpPr>
        <p:spPr>
          <a:xfrm>
            <a:off x="10611612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d8099d54d7_0_33"/>
          <p:cNvSpPr/>
          <p:nvPr/>
        </p:nvSpPr>
        <p:spPr>
          <a:xfrm>
            <a:off x="10447020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d8099d54d7_0_33"/>
          <p:cNvSpPr/>
          <p:nvPr/>
        </p:nvSpPr>
        <p:spPr>
          <a:xfrm>
            <a:off x="10282428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d8099d54d7_0_33"/>
          <p:cNvSpPr/>
          <p:nvPr/>
        </p:nvSpPr>
        <p:spPr>
          <a:xfrm>
            <a:off x="10117836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d8099d54d7_0_33"/>
          <p:cNvSpPr/>
          <p:nvPr/>
        </p:nvSpPr>
        <p:spPr>
          <a:xfrm>
            <a:off x="995324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d8099d54d7_0_33"/>
          <p:cNvSpPr/>
          <p:nvPr/>
        </p:nvSpPr>
        <p:spPr>
          <a:xfrm>
            <a:off x="9788652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d8099d54d7_0_33"/>
          <p:cNvSpPr/>
          <p:nvPr/>
        </p:nvSpPr>
        <p:spPr>
          <a:xfrm>
            <a:off x="9624060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d8099d54d7_0_33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7C75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8099d54d7_0_9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d8099d54d7_0_90"/>
          <p:cNvSpPr txBox="1"/>
          <p:nvPr/>
        </p:nvSpPr>
        <p:spPr>
          <a:xfrm>
            <a:off x="548640" y="658368"/>
            <a:ext cx="11064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An alternate solution</a:t>
            </a:r>
            <a:endParaRPr/>
          </a:p>
        </p:txBody>
      </p:sp>
      <p:cxnSp>
        <p:nvCxnSpPr>
          <p:cNvPr id="246" name="Google Shape;246;g3d8099d54d7_0_90"/>
          <p:cNvCxnSpPr/>
          <p:nvPr/>
        </p:nvCxnSpPr>
        <p:spPr>
          <a:xfrm>
            <a:off x="548640" y="1335024"/>
            <a:ext cx="1106430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47" name="Google Shape;247;g3d8099d54d7_0_90"/>
          <p:cNvSpPr txBox="1"/>
          <p:nvPr/>
        </p:nvSpPr>
        <p:spPr>
          <a:xfrm>
            <a:off x="548640" y="6510528"/>
            <a:ext cx="73152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Piterbarg  ·  Bajaj  ·  Vincent        STAT 4830  —  Spring 2026</a:t>
            </a:r>
            <a:endParaRPr/>
          </a:p>
        </p:txBody>
      </p:sp>
      <p:sp>
        <p:nvSpPr>
          <p:cNvPr id="248" name="Google Shape;248;g3d8099d54d7_0_90"/>
          <p:cNvSpPr/>
          <p:nvPr/>
        </p:nvSpPr>
        <p:spPr>
          <a:xfrm>
            <a:off x="1159916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d8099d54d7_0_90"/>
          <p:cNvSpPr/>
          <p:nvPr/>
        </p:nvSpPr>
        <p:spPr>
          <a:xfrm>
            <a:off x="11434572" y="6560820"/>
            <a:ext cx="82200" cy="82200"/>
          </a:xfrm>
          <a:prstGeom prst="ellipse">
            <a:avLst/>
          </a:prstGeom>
          <a:solidFill>
            <a:srgbClr val="8E3A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d8099d54d7_0_90"/>
          <p:cNvSpPr/>
          <p:nvPr/>
        </p:nvSpPr>
        <p:spPr>
          <a:xfrm>
            <a:off x="11269980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d8099d54d7_0_90"/>
          <p:cNvSpPr/>
          <p:nvPr/>
        </p:nvSpPr>
        <p:spPr>
          <a:xfrm>
            <a:off x="11105388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d8099d54d7_0_90"/>
          <p:cNvSpPr/>
          <p:nvPr/>
        </p:nvSpPr>
        <p:spPr>
          <a:xfrm>
            <a:off x="10940796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d8099d54d7_0_90"/>
          <p:cNvSpPr/>
          <p:nvPr/>
        </p:nvSpPr>
        <p:spPr>
          <a:xfrm>
            <a:off x="1077620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d8099d54d7_0_90"/>
          <p:cNvSpPr/>
          <p:nvPr/>
        </p:nvSpPr>
        <p:spPr>
          <a:xfrm>
            <a:off x="10611612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8099d54d7_0_90"/>
          <p:cNvSpPr/>
          <p:nvPr/>
        </p:nvSpPr>
        <p:spPr>
          <a:xfrm>
            <a:off x="10447020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d8099d54d7_0_90"/>
          <p:cNvSpPr/>
          <p:nvPr/>
        </p:nvSpPr>
        <p:spPr>
          <a:xfrm>
            <a:off x="10282428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8099d54d7_0_90"/>
          <p:cNvSpPr/>
          <p:nvPr/>
        </p:nvSpPr>
        <p:spPr>
          <a:xfrm>
            <a:off x="10117836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d8099d54d7_0_90"/>
          <p:cNvSpPr/>
          <p:nvPr/>
        </p:nvSpPr>
        <p:spPr>
          <a:xfrm>
            <a:off x="9953244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d8099d54d7_0_90"/>
          <p:cNvSpPr/>
          <p:nvPr/>
        </p:nvSpPr>
        <p:spPr>
          <a:xfrm>
            <a:off x="9788652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d8099d54d7_0_90"/>
          <p:cNvSpPr/>
          <p:nvPr/>
        </p:nvSpPr>
        <p:spPr>
          <a:xfrm>
            <a:off x="9624060" y="6560820"/>
            <a:ext cx="82200" cy="82200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d8099d54d7_0_90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7C75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§4 · TAKEAWAYS</a:t>
            </a:r>
            <a:endParaRPr/>
          </a:p>
        </p:txBody>
      </p:sp>
      <p:sp>
        <p:nvSpPr>
          <p:cNvPr id="268" name="Google Shape;268;p1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Where C₁ₐ stands after this project</a:t>
            </a:r>
            <a:endParaRPr/>
          </a:p>
        </p:txBody>
      </p:sp>
      <p:cxnSp>
        <p:nvCxnSpPr>
          <p:cNvPr id="269" name="Google Shape;269;p13"/>
          <p:cNvCxnSpPr/>
          <p:nvPr/>
        </p:nvCxnSpPr>
        <p:spPr>
          <a:xfrm>
            <a:off x="548640" y="1335024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fig_bounds_number_line.png" id="270" name="Google Shape;2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360" y="1554480"/>
            <a:ext cx="8686800" cy="2585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13"/>
          <p:cNvCxnSpPr/>
          <p:nvPr/>
        </p:nvCxnSpPr>
        <p:spPr>
          <a:xfrm>
            <a:off x="548640" y="402336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D6C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2" name="Google Shape;272;p13"/>
          <p:cNvSpPr txBox="1"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THREE DELIVERABLES</a:t>
            </a:r>
            <a:endParaRPr/>
          </a:p>
        </p:txBody>
      </p:sp>
      <p:sp>
        <p:nvSpPr>
          <p:cNvPr id="273" name="Google Shape;273;p13"/>
          <p:cNvSpPr txBox="1"/>
          <p:nvPr/>
        </p:nvSpPr>
        <p:spPr>
          <a:xfrm>
            <a:off x="548640" y="4526280"/>
            <a:ext cx="110643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C756B"/>
                </a:solidFill>
                <a:latin typeface="Calibri"/>
                <a:ea typeface="Calibri"/>
                <a:cs typeface="Calibri"/>
                <a:sym typeface="Calibri"/>
              </a:rPr>
              <a:t>Piterbarg  ·  Bajaj  ·  Vincent        STAT 4830  —  Spring 2026</a:t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1C19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962406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